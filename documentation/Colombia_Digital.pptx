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5" r:id="rId9"/>
    <p:sldId id="263" r:id="rId10"/>
    <p:sldId id="264" r:id="rId11"/>
    <p:sldId id="266" r:id="rId12"/>
    <p:sldId id="267" r:id="rId13"/>
  </p:sldIdLst>
  <p:sldSz cx="18288000" cy="10287000"/>
  <p:notesSz cx="6858000" cy="9144000"/>
  <p:embeddedFontLst>
    <p:embeddedFont>
      <p:font typeface="Arial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libri (MS)" panose="020B0604020202020204" charset="0"/>
      <p:regular r:id="rId20"/>
    </p:embeddedFont>
    <p:embeddedFont>
      <p:font typeface="Calibri (MS)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5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o Montes" userId="9c4fb0536f173471" providerId="LiveId" clId="{E556D77B-760B-45EC-85D7-431BA52B42D1}"/>
    <pc:docChg chg="undo custSel modSld sldOrd">
      <pc:chgData name="Alejandro Montes" userId="9c4fb0536f173471" providerId="LiveId" clId="{E556D77B-760B-45EC-85D7-431BA52B42D1}" dt="2025-09-27T01:01:12.431" v="344" actId="1076"/>
      <pc:docMkLst>
        <pc:docMk/>
      </pc:docMkLst>
      <pc:sldChg chg="addSp modSp mod">
        <pc:chgData name="Alejandro Montes" userId="9c4fb0536f173471" providerId="LiveId" clId="{E556D77B-760B-45EC-85D7-431BA52B42D1}" dt="2025-09-27T01:01:12.431" v="344" actId="1076"/>
        <pc:sldMkLst>
          <pc:docMk/>
          <pc:sldMk cId="0" sldId="256"/>
        </pc:sldMkLst>
        <pc:spChg chg="mod">
          <ac:chgData name="Alejandro Montes" userId="9c4fb0536f173471" providerId="LiveId" clId="{E556D77B-760B-45EC-85D7-431BA52B42D1}" dt="2025-09-27T01:00:57.887" v="342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lejandro Montes" userId="9c4fb0536f173471" providerId="LiveId" clId="{E556D77B-760B-45EC-85D7-431BA52B42D1}" dt="2025-09-27T01:01:12.431" v="344" actId="1076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Alejandro Montes" userId="9c4fb0536f173471" providerId="LiveId" clId="{E556D77B-760B-45EC-85D7-431BA52B42D1}" dt="2025-09-27T01:01:04.554" v="343" actId="1076"/>
          <ac:spMkLst>
            <pc:docMk/>
            <pc:sldMk cId="0" sldId="256"/>
            <ac:spMk id="6" creationId="{110E14D5-6E32-40A3-39DD-0457B86611F1}"/>
          </ac:spMkLst>
        </pc:spChg>
        <pc:grpChg chg="mod">
          <ac:chgData name="Alejandro Montes" userId="9c4fb0536f173471" providerId="LiveId" clId="{E556D77B-760B-45EC-85D7-431BA52B42D1}" dt="2025-09-27T00:22:02.420" v="32" actId="1076"/>
          <ac:grpSpMkLst>
            <pc:docMk/>
            <pc:sldMk cId="0" sldId="256"/>
            <ac:grpSpMk id="2" creationId="{00000000-0000-0000-0000-000000000000}"/>
          </ac:grpSpMkLst>
        </pc:grpChg>
      </pc:sldChg>
      <pc:sldChg chg="modSp mod">
        <pc:chgData name="Alejandro Montes" userId="9c4fb0536f173471" providerId="LiveId" clId="{E556D77B-760B-45EC-85D7-431BA52B42D1}" dt="2025-09-27T00:38:36.098" v="230" actId="790"/>
        <pc:sldMkLst>
          <pc:docMk/>
          <pc:sldMk cId="0" sldId="257"/>
        </pc:sldMkLst>
        <pc:spChg chg="mod">
          <ac:chgData name="Alejandro Montes" userId="9c4fb0536f173471" providerId="LiveId" clId="{E556D77B-760B-45EC-85D7-431BA52B42D1}" dt="2025-09-27T00:38:36.098" v="230" actId="790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Alejandro Montes" userId="9c4fb0536f173471" providerId="LiveId" clId="{E556D77B-760B-45EC-85D7-431BA52B42D1}" dt="2025-09-27T00:51:58.329" v="264" actId="113"/>
        <pc:sldMkLst>
          <pc:docMk/>
          <pc:sldMk cId="0" sldId="258"/>
        </pc:sldMkLst>
        <pc:spChg chg="mod">
          <ac:chgData name="Alejandro Montes" userId="9c4fb0536f173471" providerId="LiveId" clId="{E556D77B-760B-45EC-85D7-431BA52B42D1}" dt="2025-09-27T00:51:58.329" v="264" actId="113"/>
          <ac:spMkLst>
            <pc:docMk/>
            <pc:sldMk cId="0" sldId="258"/>
            <ac:spMk id="5" creationId="{00000000-0000-0000-0000-000000000000}"/>
          </ac:spMkLst>
        </pc:spChg>
        <pc:grpChg chg="mod">
          <ac:chgData name="Alejandro Montes" userId="9c4fb0536f173471" providerId="LiveId" clId="{E556D77B-760B-45EC-85D7-431BA52B42D1}" dt="2025-09-27T00:22:28.561" v="40" actId="1076"/>
          <ac:grpSpMkLst>
            <pc:docMk/>
            <pc:sldMk cId="0" sldId="258"/>
            <ac:grpSpMk id="2" creationId="{00000000-0000-0000-0000-000000000000}"/>
          </ac:grpSpMkLst>
        </pc:grpChg>
      </pc:sldChg>
      <pc:sldChg chg="modSp mod ord">
        <pc:chgData name="Alejandro Montes" userId="9c4fb0536f173471" providerId="LiveId" clId="{E556D77B-760B-45EC-85D7-431BA52B42D1}" dt="2025-09-27T00:52:07.594" v="266"/>
        <pc:sldMkLst>
          <pc:docMk/>
          <pc:sldMk cId="0" sldId="259"/>
        </pc:sldMkLst>
        <pc:spChg chg="mod">
          <ac:chgData name="Alejandro Montes" userId="9c4fb0536f173471" providerId="LiveId" clId="{E556D77B-760B-45EC-85D7-431BA52B42D1}" dt="2025-09-27T00:39:43.793" v="247" actId="403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Alejandro Montes" userId="9c4fb0536f173471" providerId="LiveId" clId="{E556D77B-760B-45EC-85D7-431BA52B42D1}" dt="2025-09-27T00:39:58.032" v="249" actId="790"/>
        <pc:sldMkLst>
          <pc:docMk/>
          <pc:sldMk cId="0" sldId="260"/>
        </pc:sldMkLst>
        <pc:spChg chg="mod">
          <ac:chgData name="Alejandro Montes" userId="9c4fb0536f173471" providerId="LiveId" clId="{E556D77B-760B-45EC-85D7-431BA52B42D1}" dt="2025-09-27T00:39:58.032" v="249" actId="790"/>
          <ac:spMkLst>
            <pc:docMk/>
            <pc:sldMk cId="0" sldId="260"/>
            <ac:spMk id="5" creationId="{00000000-0000-0000-0000-000000000000}"/>
          </ac:spMkLst>
        </pc:spChg>
      </pc:sldChg>
      <pc:sldChg chg="ord modNotes">
        <pc:chgData name="Alejandro Montes" userId="9c4fb0536f173471" providerId="LiveId" clId="{E556D77B-760B-45EC-85D7-431BA52B42D1}" dt="2025-09-27T00:48:11.579" v="254"/>
        <pc:sldMkLst>
          <pc:docMk/>
          <pc:sldMk cId="0" sldId="261"/>
        </pc:sldMkLst>
      </pc:sldChg>
      <pc:sldChg chg="modSp mod">
        <pc:chgData name="Alejandro Montes" userId="9c4fb0536f173471" providerId="LiveId" clId="{E556D77B-760B-45EC-85D7-431BA52B42D1}" dt="2025-09-27T00:40:45.649" v="250" actId="790"/>
        <pc:sldMkLst>
          <pc:docMk/>
          <pc:sldMk cId="0" sldId="262"/>
        </pc:sldMkLst>
        <pc:spChg chg="mod">
          <ac:chgData name="Alejandro Montes" userId="9c4fb0536f173471" providerId="LiveId" clId="{E556D77B-760B-45EC-85D7-431BA52B42D1}" dt="2025-09-27T00:40:45.649" v="250" actId="790"/>
          <ac:spMkLst>
            <pc:docMk/>
            <pc:sldMk cId="0" sldId="262"/>
            <ac:spMk id="5" creationId="{00000000-0000-0000-0000-000000000000}"/>
          </ac:spMkLst>
        </pc:spChg>
      </pc:sldChg>
      <pc:sldChg chg="modSp mod ord modNotes">
        <pc:chgData name="Alejandro Montes" userId="9c4fb0536f173471" providerId="LiveId" clId="{E556D77B-760B-45EC-85D7-431BA52B42D1}" dt="2025-09-27T00:50:09.869" v="262" actId="1076"/>
        <pc:sldMkLst>
          <pc:docMk/>
          <pc:sldMk cId="0" sldId="263"/>
        </pc:sldMkLst>
        <pc:grpChg chg="mod">
          <ac:chgData name="Alejandro Montes" userId="9c4fb0536f173471" providerId="LiveId" clId="{E556D77B-760B-45EC-85D7-431BA52B42D1}" dt="2025-09-27T00:50:09.869" v="262" actId="1076"/>
          <ac:grpSpMkLst>
            <pc:docMk/>
            <pc:sldMk cId="0" sldId="263"/>
            <ac:grpSpMk id="5" creationId="{00000000-0000-0000-0000-000000000000}"/>
          </ac:grpSpMkLst>
        </pc:grpChg>
      </pc:sldChg>
      <pc:sldChg chg="ord modNotes">
        <pc:chgData name="Alejandro Montes" userId="9c4fb0536f173471" providerId="LiveId" clId="{E556D77B-760B-45EC-85D7-431BA52B42D1}" dt="2025-09-27T00:48:16.433" v="256"/>
        <pc:sldMkLst>
          <pc:docMk/>
          <pc:sldMk cId="0" sldId="264"/>
        </pc:sldMkLst>
      </pc:sldChg>
      <pc:sldChg chg="ord modNotes">
        <pc:chgData name="Alejandro Montes" userId="9c4fb0536f173471" providerId="LiveId" clId="{E556D77B-760B-45EC-85D7-431BA52B42D1}" dt="2025-09-27T00:48:22.419" v="258"/>
        <pc:sldMkLst>
          <pc:docMk/>
          <pc:sldMk cId="0" sldId="265"/>
        </pc:sldMkLst>
      </pc:sldChg>
      <pc:sldChg chg="modSp mod">
        <pc:chgData name="Alejandro Montes" userId="9c4fb0536f173471" providerId="LiveId" clId="{E556D77B-760B-45EC-85D7-431BA52B42D1}" dt="2025-09-27T00:34:55.186" v="229" actId="403"/>
        <pc:sldMkLst>
          <pc:docMk/>
          <pc:sldMk cId="0" sldId="267"/>
        </pc:sldMkLst>
        <pc:spChg chg="mod">
          <ac:chgData name="Alejandro Montes" userId="9c4fb0536f173471" providerId="LiveId" clId="{E556D77B-760B-45EC-85D7-431BA52B42D1}" dt="2025-09-27T00:34:55.186" v="229" actId="403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26.09.2025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449670" y="2062077"/>
            <a:ext cx="5255925" cy="1756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8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COLOMBIA</a:t>
            </a:r>
          </a:p>
          <a:p>
            <a:pPr algn="l">
              <a:lnSpc>
                <a:spcPts val="6480"/>
              </a:lnSpc>
            </a:pPr>
            <a:r>
              <a:rPr lang="en-US" sz="8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DIGITAL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9670" y="5575475"/>
            <a:ext cx="7846730" cy="1989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s-CO" sz="2800" b="1" dirty="0">
                <a:solidFill>
                  <a:srgbClr val="FCFAF9"/>
                </a:solidFill>
                <a:latin typeface="Arial Bold"/>
                <a:ea typeface="Arial Bold"/>
                <a:cs typeface="Arial Bold"/>
                <a:sym typeface="Arial Bold"/>
              </a:rPr>
              <a:t>Integrantes</a:t>
            </a:r>
            <a:r>
              <a:rPr lang="es-CO" sz="28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  <a:br>
              <a:rPr lang="en-US" sz="28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</a:br>
            <a:endParaRPr lang="en-US" sz="28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Alejandra Caro – 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Developer And Data Master</a:t>
            </a:r>
          </a:p>
          <a:p>
            <a:pPr algn="l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Jazmin </a:t>
            </a:r>
            <a:r>
              <a:rPr lang="es-CO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Flórez</a:t>
            </a: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– 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Developer</a:t>
            </a:r>
          </a:p>
          <a:p>
            <a:pPr algn="l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Alejandro Montes – 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Scrum Master</a:t>
            </a:r>
          </a:p>
          <a:p>
            <a:pPr algn="l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Benjamin Ortiz – </a:t>
            </a:r>
            <a:r>
              <a:rPr lang="en-US" sz="28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Owner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E14D5-6E32-40A3-39DD-0457B86611F1}"/>
              </a:ext>
            </a:extLst>
          </p:cNvPr>
          <p:cNvSpPr txBox="1"/>
          <p:nvPr/>
        </p:nvSpPr>
        <p:spPr>
          <a:xfrm>
            <a:off x="1438321" y="3818776"/>
            <a:ext cx="6170330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s-ES" sz="2800" b="1" dirty="0">
                <a:solidFill>
                  <a:srgbClr val="FCFAF9"/>
                </a:solidFill>
                <a:latin typeface="Arial Bold"/>
                <a:ea typeface="Arial Bold"/>
                <a:cs typeface="Arial Bold"/>
                <a:sym typeface="Arial Bold"/>
              </a:rPr>
              <a:t>Un análisis general del acceso</a:t>
            </a:r>
            <a:br>
              <a:rPr lang="es-ES" sz="2800" b="1" dirty="0">
                <a:solidFill>
                  <a:srgbClr val="FCFAF9"/>
                </a:solidFill>
                <a:latin typeface="Arial Bold"/>
                <a:ea typeface="Arial Bold"/>
                <a:cs typeface="Arial Bold"/>
                <a:sym typeface="Arial Bold"/>
              </a:rPr>
            </a:br>
            <a:r>
              <a:rPr lang="es-ES" sz="2800" b="1" dirty="0">
                <a:solidFill>
                  <a:srgbClr val="FCFAF9"/>
                </a:solidFill>
                <a:latin typeface="Arial Bold"/>
                <a:ea typeface="Arial Bold"/>
                <a:cs typeface="Arial Bold"/>
                <a:sym typeface="Arial Bold"/>
              </a:rPr>
              <a:t>digital de los Colombianos.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157360"/>
            <a:chOff x="0" y="0"/>
            <a:chExt cx="24384000" cy="135431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543153"/>
            </a:xfrm>
            <a:custGeom>
              <a:avLst/>
              <a:gdLst/>
              <a:ahLst/>
              <a:cxnLst/>
              <a:rect l="l" t="t" r="r" b="b"/>
              <a:pathLst>
                <a:path w="24384000" h="13543153">
                  <a:moveTo>
                    <a:pt x="0" y="0"/>
                  </a:moveTo>
                  <a:lnTo>
                    <a:pt x="24384000" y="0"/>
                  </a:lnTo>
                  <a:lnTo>
                    <a:pt x="24384000" y="13543153"/>
                  </a:lnTo>
                  <a:lnTo>
                    <a:pt x="0" y="13543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519575" y="197825"/>
            <a:ext cx="92488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del Proyecto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3550" y="2825345"/>
            <a:ext cx="10146450" cy="46637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s-CO" sz="4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brecha digital en Colombia, visible en el acceso desigual a Internet y computadores en los hogares, condiciona el uso de recursos educativos en línea y profundiza desigualdades preexistentes. </a:t>
            </a:r>
            <a:r>
              <a:rPr lang="es-CO" sz="4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Factores como la zona de residencia (urbana/rural) y nivel socioeconómico, explican gran parte de esa disparidad.</a:t>
            </a:r>
          </a:p>
          <a:p>
            <a:pPr algn="just">
              <a:lnSpc>
                <a:spcPts val="3600"/>
              </a:lnSpc>
            </a:pPr>
            <a:endParaRPr lang="es-CO" sz="48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893238" y="2195625"/>
            <a:ext cx="4830375" cy="6210488"/>
            <a:chOff x="0" y="0"/>
            <a:chExt cx="6440500" cy="8280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40551" cy="8280654"/>
            </a:xfrm>
            <a:custGeom>
              <a:avLst/>
              <a:gdLst/>
              <a:ahLst/>
              <a:cxnLst/>
              <a:rect l="l" t="t" r="r" b="b"/>
              <a:pathLst>
                <a:path w="6440551" h="8280654">
                  <a:moveTo>
                    <a:pt x="0" y="0"/>
                  </a:moveTo>
                  <a:lnTo>
                    <a:pt x="6440551" y="0"/>
                  </a:lnTo>
                  <a:lnTo>
                    <a:pt x="6440551" y="8280654"/>
                  </a:lnTo>
                  <a:lnTo>
                    <a:pt x="0" y="828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197825"/>
            <a:ext cx="114745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Fuentes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1605" y="3121694"/>
            <a:ext cx="9349500" cy="3530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5325" lvl="1" indent="-347662" algn="l">
              <a:lnSpc>
                <a:spcPts val="4140"/>
              </a:lnSpc>
              <a:buFont typeface="Arial"/>
              <a:buChar char="•"/>
            </a:pPr>
            <a:r>
              <a:rPr lang="es-CO" sz="4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DANE – ECV (2018–2024):</a:t>
            </a:r>
            <a:r>
              <a:rPr lang="es-CO" sz="4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datos detallados sobre TIC y educación por región.</a:t>
            </a:r>
          </a:p>
          <a:p>
            <a:pPr marL="695325" lvl="1" indent="-347662" algn="l">
              <a:lnSpc>
                <a:spcPts val="4140"/>
              </a:lnSpc>
            </a:pP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95325" lvl="1" indent="-347662" algn="l">
              <a:lnSpc>
                <a:spcPts val="4140"/>
              </a:lnSpc>
              <a:buFont typeface="Arial"/>
              <a:buChar char="•"/>
            </a:pPr>
            <a:r>
              <a:rPr lang="es-CO" sz="44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World</a:t>
            </a:r>
            <a:r>
              <a:rPr lang="es-CO" sz="4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s-CO" sz="44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Values</a:t>
            </a:r>
            <a:r>
              <a:rPr lang="es-CO" sz="4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s-CO" sz="4400" b="1" dirty="0" err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Survey</a:t>
            </a:r>
            <a:r>
              <a:rPr lang="es-CO" sz="4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(2017–2022):</a:t>
            </a:r>
            <a: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descartada.</a:t>
            </a:r>
          </a:p>
          <a:p>
            <a:pPr marL="486727" lvl="1" indent="-243364" algn="just">
              <a:lnSpc>
                <a:spcPts val="2520"/>
              </a:lnSpc>
            </a:pP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882438" y="2417588"/>
            <a:ext cx="4392822" cy="1930419"/>
            <a:chOff x="0" y="0"/>
            <a:chExt cx="5857096" cy="25738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57113" cy="2573909"/>
            </a:xfrm>
            <a:custGeom>
              <a:avLst/>
              <a:gdLst/>
              <a:ahLst/>
              <a:cxnLst/>
              <a:rect l="l" t="t" r="r" b="b"/>
              <a:pathLst>
                <a:path w="5857113" h="2573909">
                  <a:moveTo>
                    <a:pt x="0" y="0"/>
                  </a:moveTo>
                  <a:lnTo>
                    <a:pt x="5857113" y="0"/>
                  </a:lnTo>
                  <a:lnTo>
                    <a:pt x="5857113" y="2573909"/>
                  </a:lnTo>
                  <a:lnTo>
                    <a:pt x="0" y="2573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882438" y="4772894"/>
            <a:ext cx="4392825" cy="2005119"/>
            <a:chOff x="0" y="0"/>
            <a:chExt cx="5857100" cy="26734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57113" cy="2673477"/>
            </a:xfrm>
            <a:custGeom>
              <a:avLst/>
              <a:gdLst/>
              <a:ahLst/>
              <a:cxnLst/>
              <a:rect l="l" t="t" r="r" b="b"/>
              <a:pathLst>
                <a:path w="5857113" h="2673477">
                  <a:moveTo>
                    <a:pt x="0" y="0"/>
                  </a:moveTo>
                  <a:lnTo>
                    <a:pt x="5857113" y="0"/>
                  </a:lnTo>
                  <a:lnTo>
                    <a:pt x="5857113" y="2673477"/>
                  </a:lnTo>
                  <a:lnTo>
                    <a:pt x="0" y="2673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197825"/>
            <a:ext cx="114745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Planteamiento del Problema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45112" y="2248520"/>
            <a:ext cx="9349500" cy="588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s-CO" sz="3600" b="1" dirty="0">
                <a:solidFill>
                  <a:srgbClr val="000000"/>
                </a:solidFill>
                <a:latin typeface="+mj-lt"/>
                <a:ea typeface="Calibri (MS)"/>
                <a:cs typeface="Calibri (MS)"/>
                <a:sym typeface="Calibri (MS)"/>
              </a:rPr>
              <a:t>Impactos principales</a:t>
            </a:r>
            <a:r>
              <a:rPr lang="es-CO" sz="3600" dirty="0">
                <a:solidFill>
                  <a:srgbClr val="000000"/>
                </a:solidFill>
                <a:latin typeface="+mj-lt"/>
                <a:ea typeface="Calibri (MS)"/>
                <a:cs typeface="Calibri (MS)"/>
                <a:sym typeface="Calibri (MS)"/>
              </a:rPr>
              <a:t>:</a:t>
            </a:r>
          </a:p>
          <a:p>
            <a:pPr algn="just">
              <a:lnSpc>
                <a:spcPts val="3600"/>
              </a:lnSpc>
            </a:pPr>
            <a:endParaRPr lang="es-CO" sz="3600" dirty="0">
              <a:solidFill>
                <a:srgbClr val="000000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457200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s-CO" sz="3600" dirty="0">
                <a:solidFill>
                  <a:srgbClr val="000000"/>
                </a:solidFill>
                <a:latin typeface="+mj-lt"/>
                <a:ea typeface="Calibri (MS)"/>
                <a:cs typeface="Calibri (MS)"/>
                <a:sym typeface="Calibri (MS)"/>
              </a:rPr>
              <a:t>Limitación en el uso de recursos educativos digitales.</a:t>
            </a:r>
          </a:p>
          <a:p>
            <a:pPr algn="just">
              <a:lnSpc>
                <a:spcPts val="3600"/>
              </a:lnSpc>
            </a:pPr>
            <a:endParaRPr lang="es-CO" sz="3600" dirty="0">
              <a:solidFill>
                <a:srgbClr val="000000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marL="457200" indent="-457200" algn="just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s-CO" sz="3600" dirty="0">
                <a:solidFill>
                  <a:srgbClr val="000000"/>
                </a:solidFill>
                <a:latin typeface="+mj-lt"/>
                <a:ea typeface="Calibri (MS)"/>
                <a:cs typeface="Calibri (MS)"/>
                <a:sym typeface="Calibri (MS)"/>
              </a:rPr>
              <a:t>Mayor riesgo de deserción escolar y menor calidad de aprendizaje.</a:t>
            </a:r>
          </a:p>
          <a:p>
            <a:pPr algn="just">
              <a:lnSpc>
                <a:spcPts val="3600"/>
              </a:lnSpc>
            </a:pPr>
            <a:endParaRPr lang="es-CO" sz="3600" dirty="0">
              <a:solidFill>
                <a:srgbClr val="000000"/>
              </a:solidFill>
              <a:latin typeface="+mj-lt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3600"/>
              </a:lnSpc>
            </a:pPr>
            <a:r>
              <a:rPr lang="es-CO" sz="3600" dirty="0">
                <a:solidFill>
                  <a:srgbClr val="000000"/>
                </a:solidFill>
                <a:latin typeface="+mj-lt"/>
                <a:ea typeface="Calibri (MS)"/>
                <a:cs typeface="Calibri (MS)"/>
                <a:sym typeface="Calibri (MS)"/>
              </a:rPr>
              <a:t>Analizar estas desigualdades resulta útil para generar evidencia que oriente políticas públicas enfocadas en promover un acceso equitativo a la educación y a la tecnología.</a:t>
            </a:r>
          </a:p>
          <a:p>
            <a:pPr algn="just">
              <a:lnSpc>
                <a:spcPts val="2520"/>
              </a:lnSpc>
            </a:pPr>
            <a:endParaRPr lang="es-CO" sz="30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265450" y="2766122"/>
            <a:ext cx="6322200" cy="3618750"/>
            <a:chOff x="0" y="0"/>
            <a:chExt cx="8429600" cy="4825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29625" cy="4824984"/>
            </a:xfrm>
            <a:custGeom>
              <a:avLst/>
              <a:gdLst/>
              <a:ahLst/>
              <a:cxnLst/>
              <a:rect l="l" t="t" r="r" b="b"/>
              <a:pathLst>
                <a:path w="8429625" h="4824984">
                  <a:moveTo>
                    <a:pt x="0" y="0"/>
                  </a:moveTo>
                  <a:lnTo>
                    <a:pt x="8429625" y="0"/>
                  </a:lnTo>
                  <a:lnTo>
                    <a:pt x="8429625" y="4824984"/>
                  </a:lnTo>
                  <a:lnTo>
                    <a:pt x="0" y="4824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197825"/>
            <a:ext cx="114745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943100"/>
            <a:ext cx="16459200" cy="6673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s-CO" sz="4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general:</a:t>
            </a:r>
            <a:br>
              <a:rPr lang="es-CO" sz="44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</a:br>
            <a:endParaRPr lang="es-CO" sz="44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algn="l">
              <a:lnSpc>
                <a:spcPts val="3519"/>
              </a:lnSpc>
            </a:pPr>
            <a: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Evaluar la brecha digital en Colombia considerando acceso a Internet y computadores, educación y grupos etarios.</a:t>
            </a:r>
          </a:p>
          <a:p>
            <a:pPr algn="l">
              <a:lnSpc>
                <a:spcPts val="3519"/>
              </a:lnSpc>
            </a:pP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519"/>
              </a:lnSpc>
            </a:pPr>
            <a:r>
              <a:rPr lang="es-CO" sz="4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específicos:</a:t>
            </a:r>
          </a:p>
          <a:p>
            <a:pPr algn="l">
              <a:lnSpc>
                <a:spcPts val="3519"/>
              </a:lnSpc>
            </a:pPr>
            <a:endParaRPr lang="es-CO" sz="4400" b="1" dirty="0">
              <a:solidFill>
                <a:srgbClr val="000000"/>
              </a:solidFill>
              <a:latin typeface="Calibri (MS) Bold"/>
              <a:ea typeface="Calibri (MS)"/>
              <a:cs typeface="Calibri (MS) Bold"/>
              <a:sym typeface="Calibri (MS) Bold"/>
            </a:endParaRPr>
          </a:p>
          <a:p>
            <a:pPr marL="514350" indent="-514350" algn="l">
              <a:lnSpc>
                <a:spcPts val="3519"/>
              </a:lnSpc>
              <a:buFont typeface="+mj-lt"/>
              <a:buAutoNum type="arabicPeriod"/>
            </a:pPr>
            <a: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Medir % de hogares con computador e Internet por región y edad.</a:t>
            </a:r>
            <a:b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14350" indent="-514350" algn="l">
              <a:lnSpc>
                <a:spcPts val="3519"/>
              </a:lnSpc>
              <a:buFont typeface="+mj-lt"/>
              <a:buAutoNum type="arabicPeriod"/>
            </a:pPr>
            <a: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Analizar relación entre disponibilidad tecnológica y educación.</a:t>
            </a:r>
            <a:b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14350" indent="-514350" algn="l">
              <a:lnSpc>
                <a:spcPts val="3519"/>
              </a:lnSpc>
              <a:buFont typeface="+mj-lt"/>
              <a:buAutoNum type="arabicPeriod"/>
            </a:pPr>
            <a:r>
              <a:rPr lang="es-CO" sz="44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Identificar regiones y grupos rezagados para orientar políticas de inclusión digital.</a:t>
            </a:r>
          </a:p>
          <a:p>
            <a:pPr marL="642461" lvl="1" indent="-321231" algn="l">
              <a:lnSpc>
                <a:spcPts val="3519"/>
              </a:lnSpc>
            </a:pP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29086" lvl="1" indent="-264543" algn="just">
              <a:lnSpc>
                <a:spcPts val="2520"/>
              </a:lnSpc>
            </a:pPr>
            <a:endParaRPr lang="es-CO" sz="44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197825"/>
            <a:ext cx="114745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Componente técnico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4288" y="1547457"/>
            <a:ext cx="9349500" cy="667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s-CO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Lenguaje</a:t>
            </a:r>
            <a:r>
              <a:rPr lang="en-US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principal:</a:t>
            </a:r>
            <a: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Python</a:t>
            </a:r>
            <a:br>
              <a:rPr lang="en-US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n-US" sz="21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97"/>
              </a:lnSpc>
            </a:pPr>
            <a:r>
              <a:rPr lang="es-CO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Librerías:</a:t>
            </a:r>
          </a:p>
          <a:p>
            <a:pPr algn="l">
              <a:lnSpc>
                <a:spcPts val="2897"/>
              </a:lnSpc>
            </a:pPr>
            <a:endParaRPr lang="es-CO" sz="2100" b="1" dirty="0">
              <a:solidFill>
                <a:srgbClr val="000000"/>
              </a:solidFill>
              <a:latin typeface="Calibri (MS) Bold"/>
              <a:ea typeface="Calibri (MS)"/>
              <a:cs typeface="Calibri (MS) Bold"/>
              <a:sym typeface="Calibri (MS) Bold"/>
            </a:endParaRP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Pandas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manejo y limpieza de datos</a:t>
            </a: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Numpy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cálculos y métricas</a:t>
            </a: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MatPlotLib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gráficos estáticos</a:t>
            </a: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Seaborn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gráficos estadísticos</a:t>
            </a:r>
          </a:p>
          <a:p>
            <a:pPr algn="l">
              <a:lnSpc>
                <a:spcPts val="2897"/>
              </a:lnSpc>
            </a:pPr>
            <a:endParaRPr lang="es-CO" sz="2100" b="1" dirty="0">
              <a:solidFill>
                <a:srgbClr val="000000"/>
              </a:solidFill>
              <a:latin typeface="Calibri (MS)"/>
              <a:ea typeface="Calibri (MS) Bold"/>
              <a:cs typeface="Calibri (MS)"/>
              <a:sym typeface="Calibri (MS)"/>
            </a:endParaRPr>
          </a:p>
          <a:p>
            <a:pPr algn="l">
              <a:lnSpc>
                <a:spcPts val="2897"/>
              </a:lnSpc>
            </a:pPr>
            <a:r>
              <a:rPr lang="es-CO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Herramientas:</a:t>
            </a:r>
          </a:p>
          <a:p>
            <a:pPr algn="l">
              <a:lnSpc>
                <a:spcPts val="2897"/>
              </a:lnSpc>
            </a:pPr>
            <a:endParaRPr lang="es-CO" sz="2100" b="1" dirty="0">
              <a:solidFill>
                <a:srgbClr val="000000"/>
              </a:solidFill>
              <a:latin typeface="Calibri (MS) Bold"/>
              <a:ea typeface="Calibri (MS)"/>
              <a:cs typeface="Calibri (MS) Bold"/>
              <a:sym typeface="Calibri (MS) Bold"/>
            </a:endParaRP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Jupyter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Notebook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/ </a:t>
            </a: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Google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s-CO" sz="2100" b="1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Colab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integración de análisis y visualizaciones</a:t>
            </a: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/</a:t>
            </a: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GitHub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control de </a:t>
            </a:r>
            <a:r>
              <a:rPr lang="es-CO" sz="210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versions</a:t>
            </a:r>
            <a:endParaRPr lang="es-CO" sz="21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897"/>
              </a:lnSpc>
            </a:pPr>
            <a:endParaRPr lang="es-CO" sz="2100" b="1" dirty="0">
              <a:solidFill>
                <a:srgbClr val="000000"/>
              </a:solidFill>
              <a:latin typeface="Calibri (MS)"/>
              <a:ea typeface="Calibri (MS) Bold"/>
              <a:cs typeface="Calibri (MS)"/>
              <a:sym typeface="Calibri (MS)"/>
            </a:endParaRPr>
          </a:p>
          <a:p>
            <a:pPr algn="l">
              <a:lnSpc>
                <a:spcPts val="2897"/>
              </a:lnSpc>
            </a:pPr>
            <a:r>
              <a:rPr lang="es-CO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Difusión de resultados:</a:t>
            </a:r>
            <a:br>
              <a:rPr lang="es-CO" sz="21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</a:br>
            <a:endParaRPr lang="es-CO" sz="21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342900" indent="-342900" algn="l">
              <a:lnSpc>
                <a:spcPts val="2897"/>
              </a:lnSpc>
              <a:buFont typeface="Arial" panose="020B0604020202020204" pitchFamily="34" charset="0"/>
              <a:buChar char="•"/>
            </a:pP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HTML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CSS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s-CO" sz="2100" b="1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  <a:r>
              <a:rPr lang="es-CO" sz="21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 Presentación web interactiva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3558504" y="2270382"/>
            <a:ext cx="2861133" cy="1359576"/>
            <a:chOff x="0" y="0"/>
            <a:chExt cx="3814845" cy="18127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4826" cy="1812798"/>
            </a:xfrm>
            <a:custGeom>
              <a:avLst/>
              <a:gdLst/>
              <a:ahLst/>
              <a:cxnLst/>
              <a:rect l="l" t="t" r="r" b="b"/>
              <a:pathLst>
                <a:path w="3814826" h="1812798">
                  <a:moveTo>
                    <a:pt x="0" y="0"/>
                  </a:moveTo>
                  <a:lnTo>
                    <a:pt x="3814826" y="0"/>
                  </a:lnTo>
                  <a:lnTo>
                    <a:pt x="3814826" y="1812798"/>
                  </a:lnTo>
                  <a:lnTo>
                    <a:pt x="0" y="1812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645" b="-7644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558504" y="3728848"/>
            <a:ext cx="2861140" cy="1172775"/>
            <a:chOff x="0" y="0"/>
            <a:chExt cx="3814853" cy="1563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14826" cy="1563751"/>
            </a:xfrm>
            <a:custGeom>
              <a:avLst/>
              <a:gdLst/>
              <a:ahLst/>
              <a:cxnLst/>
              <a:rect l="l" t="t" r="r" b="b"/>
              <a:pathLst>
                <a:path w="3814826" h="1563751">
                  <a:moveTo>
                    <a:pt x="0" y="0"/>
                  </a:moveTo>
                  <a:lnTo>
                    <a:pt x="3814826" y="0"/>
                  </a:lnTo>
                  <a:lnTo>
                    <a:pt x="3814826" y="1563751"/>
                  </a:lnTo>
                  <a:lnTo>
                    <a:pt x="0" y="156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18" b="-4615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2950405" y="4979450"/>
            <a:ext cx="4077320" cy="1172777"/>
            <a:chOff x="0" y="0"/>
            <a:chExt cx="5436426" cy="15637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436489" cy="1563751"/>
            </a:xfrm>
            <a:custGeom>
              <a:avLst/>
              <a:gdLst/>
              <a:ahLst/>
              <a:cxnLst/>
              <a:rect l="l" t="t" r="r" b="b"/>
              <a:pathLst>
                <a:path w="5436489" h="1563751">
                  <a:moveTo>
                    <a:pt x="0" y="0"/>
                  </a:moveTo>
                  <a:lnTo>
                    <a:pt x="5436489" y="0"/>
                  </a:lnTo>
                  <a:lnTo>
                    <a:pt x="5436489" y="1563751"/>
                  </a:lnTo>
                  <a:lnTo>
                    <a:pt x="0" y="156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645" r="1" b="-7642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2950422" y="6152223"/>
            <a:ext cx="4077301" cy="1010427"/>
            <a:chOff x="0" y="0"/>
            <a:chExt cx="5436402" cy="13472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36362" cy="1347216"/>
            </a:xfrm>
            <a:custGeom>
              <a:avLst/>
              <a:gdLst/>
              <a:ahLst/>
              <a:cxnLst/>
              <a:rect l="l" t="t" r="r" b="b"/>
              <a:pathLst>
                <a:path w="5436362" h="1347216">
                  <a:moveTo>
                    <a:pt x="0" y="0"/>
                  </a:moveTo>
                  <a:lnTo>
                    <a:pt x="5436362" y="0"/>
                  </a:lnTo>
                  <a:lnTo>
                    <a:pt x="5436362" y="1347216"/>
                  </a:lnTo>
                  <a:lnTo>
                    <a:pt x="0" y="1347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646" b="-7647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4205331" y="781538"/>
            <a:ext cx="1567486" cy="1359576"/>
            <a:chOff x="0" y="0"/>
            <a:chExt cx="2089981" cy="181276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0039" cy="1812798"/>
            </a:xfrm>
            <a:custGeom>
              <a:avLst/>
              <a:gdLst/>
              <a:ahLst/>
              <a:cxnLst/>
              <a:rect l="l" t="t" r="r" b="b"/>
              <a:pathLst>
                <a:path w="2090039" h="1812798">
                  <a:moveTo>
                    <a:pt x="0" y="0"/>
                  </a:moveTo>
                  <a:lnTo>
                    <a:pt x="2090039" y="0"/>
                  </a:lnTo>
                  <a:lnTo>
                    <a:pt x="2090039" y="1812798"/>
                  </a:lnTo>
                  <a:lnTo>
                    <a:pt x="0" y="1812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7645" r="2" b="-7644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2607455" y="7290069"/>
            <a:ext cx="4763230" cy="1532250"/>
            <a:chOff x="0" y="0"/>
            <a:chExt cx="6350974" cy="20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1016" cy="2043049"/>
            </a:xfrm>
            <a:custGeom>
              <a:avLst/>
              <a:gdLst/>
              <a:ahLst/>
              <a:cxnLst/>
              <a:rect l="l" t="t" r="r" b="b"/>
              <a:pathLst>
                <a:path w="6351016" h="2043049">
                  <a:moveTo>
                    <a:pt x="0" y="0"/>
                  </a:moveTo>
                  <a:lnTo>
                    <a:pt x="6351016" y="0"/>
                  </a:lnTo>
                  <a:lnTo>
                    <a:pt x="6351016" y="2043049"/>
                  </a:lnTo>
                  <a:lnTo>
                    <a:pt x="0" y="2043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149" b="-1147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197825"/>
            <a:ext cx="114745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Métricas analizadas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3675" y="2239012"/>
            <a:ext cx="4734750" cy="326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Acceso tecnológico:</a:t>
            </a: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% hogares con computador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% hogares con Internet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Brecha % Internet vs PC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Educación:</a:t>
            </a: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Años promedio de escolaridad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Tasa de asistencia escolar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18172" lvl="1" indent="-309086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Índice educativo regional</a:t>
            </a:r>
          </a:p>
          <a:p>
            <a:pPr marL="618172" lvl="1" indent="-309086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18172" lvl="1" indent="-309086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06483" lvl="1" indent="-353241" algn="l">
              <a:lnSpc>
                <a:spcPts val="3311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18172" lvl="1" indent="-309086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18172" lvl="1" indent="-309086" algn="just">
              <a:lnSpc>
                <a:spcPts val="2520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837413" y="2239012"/>
            <a:ext cx="4734750" cy="326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Uso digital por edad:</a:t>
            </a: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Uso de recursos educativos en línea por grupo etario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Distribución de hogares con PC según edad del jefe de hogar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Brechas regionales:</a:t>
            </a: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Diferencias en acceso TIC y educación entre regiones</a:t>
            </a:r>
          </a:p>
          <a:p>
            <a:pPr marL="589598" lvl="1" indent="-294799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89598" lvl="1" indent="-294799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Identificación de regiones más rezagadas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398350" y="2286000"/>
            <a:ext cx="6643688" cy="5715000"/>
            <a:chOff x="0" y="0"/>
            <a:chExt cx="8858250" cy="762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58250" cy="7620000"/>
            </a:xfrm>
            <a:custGeom>
              <a:avLst/>
              <a:gdLst/>
              <a:ahLst/>
              <a:cxnLst/>
              <a:rect l="l" t="t" r="r" b="b"/>
              <a:pathLst>
                <a:path w="8858250" h="7620000">
                  <a:moveTo>
                    <a:pt x="0" y="0"/>
                  </a:moveTo>
                  <a:lnTo>
                    <a:pt x="8858250" y="0"/>
                  </a:lnTo>
                  <a:lnTo>
                    <a:pt x="885825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-3250"/>
            <a:ext cx="11474550" cy="12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>
                <a:solidFill>
                  <a:srgbClr val="434343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Visualización de Datos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168875" y="2129550"/>
            <a:ext cx="7169550" cy="6027900"/>
            <a:chOff x="0" y="0"/>
            <a:chExt cx="9559400" cy="8037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59417" cy="8037195"/>
            </a:xfrm>
            <a:custGeom>
              <a:avLst/>
              <a:gdLst/>
              <a:ahLst/>
              <a:cxnLst/>
              <a:rect l="l" t="t" r="r" b="b"/>
              <a:pathLst>
                <a:path w="9559417" h="8037195">
                  <a:moveTo>
                    <a:pt x="0" y="0"/>
                  </a:moveTo>
                  <a:lnTo>
                    <a:pt x="9559417" y="0"/>
                  </a:lnTo>
                  <a:lnTo>
                    <a:pt x="9559417" y="8037195"/>
                  </a:lnTo>
                  <a:lnTo>
                    <a:pt x="0" y="8037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578962" y="2129550"/>
            <a:ext cx="7599459" cy="6027900"/>
            <a:chOff x="0" y="0"/>
            <a:chExt cx="10132612" cy="8037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32568" cy="8037195"/>
            </a:xfrm>
            <a:custGeom>
              <a:avLst/>
              <a:gdLst/>
              <a:ahLst/>
              <a:cxnLst/>
              <a:rect l="l" t="t" r="r" b="b"/>
              <a:pathLst>
                <a:path w="10132568" h="8037195">
                  <a:moveTo>
                    <a:pt x="0" y="0"/>
                  </a:moveTo>
                  <a:lnTo>
                    <a:pt x="10132568" y="0"/>
                  </a:lnTo>
                  <a:lnTo>
                    <a:pt x="10132568" y="8037195"/>
                  </a:lnTo>
                  <a:lnTo>
                    <a:pt x="0" y="8037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-3250"/>
            <a:ext cx="11474550" cy="12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>
                <a:solidFill>
                  <a:srgbClr val="434343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Visualización de Datos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822250" y="1373512"/>
            <a:ext cx="12643500" cy="3847612"/>
            <a:chOff x="0" y="0"/>
            <a:chExt cx="16858000" cy="5130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57980" cy="5130165"/>
            </a:xfrm>
            <a:custGeom>
              <a:avLst/>
              <a:gdLst/>
              <a:ahLst/>
              <a:cxnLst/>
              <a:rect l="l" t="t" r="r" b="b"/>
              <a:pathLst>
                <a:path w="16857980" h="5130165">
                  <a:moveTo>
                    <a:pt x="0" y="0"/>
                  </a:moveTo>
                  <a:lnTo>
                    <a:pt x="16857980" y="0"/>
                  </a:lnTo>
                  <a:lnTo>
                    <a:pt x="16857980" y="5130165"/>
                  </a:lnTo>
                  <a:lnTo>
                    <a:pt x="0" y="5130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4870" b="-14870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503100" y="4977338"/>
            <a:ext cx="11281802" cy="4114088"/>
            <a:chOff x="0" y="0"/>
            <a:chExt cx="15042402" cy="54854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42387" cy="5485511"/>
            </a:xfrm>
            <a:custGeom>
              <a:avLst/>
              <a:gdLst/>
              <a:ahLst/>
              <a:cxnLst/>
              <a:rect l="l" t="t" r="r" b="b"/>
              <a:pathLst>
                <a:path w="15042387" h="5485511">
                  <a:moveTo>
                    <a:pt x="0" y="0"/>
                  </a:moveTo>
                  <a:lnTo>
                    <a:pt x="15042387" y="0"/>
                  </a:lnTo>
                  <a:lnTo>
                    <a:pt x="15042387" y="5485511"/>
                  </a:lnTo>
                  <a:lnTo>
                    <a:pt x="0" y="548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8382" b="-1838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-3250"/>
            <a:ext cx="11474550" cy="12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>
                <a:solidFill>
                  <a:srgbClr val="434343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Visualización de Datos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500312" y="1893094"/>
            <a:ext cx="13287375" cy="6500812"/>
            <a:chOff x="0" y="0"/>
            <a:chExt cx="17716500" cy="86677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716500" cy="8667750"/>
            </a:xfrm>
            <a:custGeom>
              <a:avLst/>
              <a:gdLst/>
              <a:ahLst/>
              <a:cxnLst/>
              <a:rect l="l" t="t" r="r" b="b"/>
              <a:pathLst>
                <a:path w="17716500" h="8667750">
                  <a:moveTo>
                    <a:pt x="0" y="0"/>
                  </a:moveTo>
                  <a:lnTo>
                    <a:pt x="17716500" y="0"/>
                  </a:lnTo>
                  <a:lnTo>
                    <a:pt x="17716500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-3250"/>
            <a:ext cx="11474550" cy="12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>
                <a:solidFill>
                  <a:srgbClr val="434343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Visualización de Datos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28295" y="1874213"/>
            <a:ext cx="15831412" cy="6538575"/>
            <a:chOff x="0" y="0"/>
            <a:chExt cx="21108550" cy="8718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08543" cy="8718042"/>
            </a:xfrm>
            <a:custGeom>
              <a:avLst/>
              <a:gdLst/>
              <a:ahLst/>
              <a:cxnLst/>
              <a:rect l="l" t="t" r="r" b="b"/>
              <a:pathLst>
                <a:path w="21108543" h="8718042">
                  <a:moveTo>
                    <a:pt x="0" y="0"/>
                  </a:moveTo>
                  <a:lnTo>
                    <a:pt x="21108543" y="0"/>
                  </a:lnTo>
                  <a:lnTo>
                    <a:pt x="21108543" y="8718042"/>
                  </a:lnTo>
                  <a:lnTo>
                    <a:pt x="0" y="8718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3406725" y="197825"/>
            <a:ext cx="11474550" cy="133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 b="1">
                <a:solidFill>
                  <a:srgbClr val="4343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07575" y="1850625"/>
            <a:ext cx="11672850" cy="7377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4391" lvl="1" indent="-514350" algn="l">
              <a:lnSpc>
                <a:spcPts val="3726"/>
              </a:lnSpc>
              <a:buFont typeface="+mj-lt"/>
              <a:buAutoNum type="arabicPeriod"/>
            </a:pPr>
            <a: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Más hogares tienen Internet que PC; existen brechas significativas entre regiones.</a:t>
            </a:r>
            <a:b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s-CO" sz="3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844391" lvl="1" indent="-514350" algn="l">
              <a:lnSpc>
                <a:spcPts val="3726"/>
              </a:lnSpc>
              <a:buFont typeface="+mj-lt"/>
              <a:buAutoNum type="arabicPeriod"/>
            </a:pPr>
            <a: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 acceso a Internet favorece la asistencia escolar.</a:t>
            </a:r>
            <a:b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s-CO" sz="3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844391" lvl="1" indent="-514350" algn="l">
              <a:lnSpc>
                <a:spcPts val="3726"/>
              </a:lnSpc>
              <a:buFont typeface="+mj-lt"/>
              <a:buAutoNum type="arabicPeriod"/>
            </a:pPr>
            <a: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Mayor infraestructura tecnológica se asocia con mejores indicadores educativos.</a:t>
            </a:r>
            <a:b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s-CO" sz="3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60082" lvl="1" indent="-330041" algn="l">
              <a:lnSpc>
                <a:spcPts val="3726"/>
              </a:lnSpc>
              <a:buAutoNum type="arabicPeriod"/>
            </a:pPr>
            <a: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Diferencias regionales marcadas: Bogotá y Antioquia líderes; regiones amazónicas y del Pacífico rezagadas.</a:t>
            </a:r>
            <a:b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</a:br>
            <a:endParaRPr lang="es-CO" sz="3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60082" lvl="1" indent="-330041" algn="l">
              <a:lnSpc>
                <a:spcPts val="3726"/>
              </a:lnSpc>
              <a:buAutoNum type="arabicPeriod"/>
            </a:pPr>
            <a:r>
              <a:rPr lang="es-CO" sz="36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Uso de recursos digitales y PC varía por edad: jóvenes/adultos jóvenes más usuarios; adultos mayores con menor acceso.</a:t>
            </a:r>
          </a:p>
          <a:p>
            <a:pPr marL="513398" lvl="1" indent="-256699" algn="l">
              <a:lnSpc>
                <a:spcPts val="2897"/>
              </a:lnSpc>
            </a:pPr>
            <a:endParaRPr lang="es-CO" sz="3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13398" lvl="1" indent="-256699" algn="just">
              <a:lnSpc>
                <a:spcPts val="2520"/>
              </a:lnSpc>
            </a:pPr>
            <a:endParaRPr lang="es-CO" sz="360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490</Words>
  <Application>Microsoft Office PowerPoint</Application>
  <PresentationFormat>Personalizado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(MS) Bold</vt:lpstr>
      <vt:lpstr>Calibri (MS)</vt:lpstr>
      <vt:lpstr>Arial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 social de la tecnología- educación y conectividad (1).pptx</dc:title>
  <cp:lastModifiedBy>Alejandro Montes</cp:lastModifiedBy>
  <cp:revision>1</cp:revision>
  <dcterms:created xsi:type="dcterms:W3CDTF">2006-08-16T00:00:00Z</dcterms:created>
  <dcterms:modified xsi:type="dcterms:W3CDTF">2025-09-27T01:55:52Z</dcterms:modified>
  <dc:identifier>DAG0C1aDtlo</dc:identifier>
</cp:coreProperties>
</file>